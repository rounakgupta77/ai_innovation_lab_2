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Walk-through: (1) The employee uploads photos or PDFs of fuel, repair and maintenance bills. (2) The bill reader fills in bill number, date, amount and bill type: Claude AI if an API key is set, otherwise local Tesseract OCR. (3) The parsed fields appear as one row per bill; the employee fixes anything wrong and sends the bill to HR. (4) The backend checks required fields, a valid date and duplicates. (5) Anomaly detection compares the amount with history using statistical rules and an Isolation Forest model, both learned only from this system's own approved bills. (6) If HR's auto-approve switch is on and the bill is not flagged, it is approved automatically; otherwise it goes to HR. (7) HR sees flagged bills in red with the reasons, then approves or rejects (a reason is required to reject). (8) Every decision stays in the history, tagged auto-approved or manual. (9) The employee sees Pending, Approved or Rejected within seconds. Both portals talk to the same backend and database.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82880"/>
            <a:ext cx="11274552" cy="594360"/>
          </a:xfrm>
        </p:spPr>
        <p:txBody>
          <a:bodyPr wrap="square" lIns="0" tIns="0" rIns="0" bIns="0" anchor="ctr">
            <a:noAutofit/>
          </a:bodyPr>
          <a:lstStyle/>
          <a:p>
            <a:pPr algn="l"/>
            <a:r>
              <a:rPr sz="3200" b="1">
                <a:solidFill>
                  <a:srgbClr val="1D2433"/>
                </a:solidFill>
                <a:latin typeface="Cambria"/>
              </a:rPr>
              <a:t>Reimbursement System: Block Diagram</a:t>
            </a:r>
          </a:p>
        </p:txBody>
      </p:sp>
      <p:sp>
        <p:nvSpPr>
          <p:cNvPr id="3" name="Lane: Employee portal"/>
          <p:cNvSpPr/>
          <p:nvPr/>
        </p:nvSpPr>
        <p:spPr>
          <a:xfrm>
            <a:off x="457200" y="868680"/>
            <a:ext cx="2926080" cy="5532120"/>
          </a:xfrm>
          <a:prstGeom prst="roundRect">
            <a:avLst>
              <a:gd name="adj" fmla="val 4687"/>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ane title: Employee portal"/>
          <p:cNvSpPr txBox="1"/>
          <p:nvPr/>
        </p:nvSpPr>
        <p:spPr>
          <a:xfrm>
            <a:off x="640080" y="914400"/>
            <a:ext cx="2560320" cy="320040"/>
          </a:xfrm>
          <a:prstGeom prst="rect">
            <a:avLst/>
          </a:prstGeom>
          <a:noFill/>
        </p:spPr>
        <p:txBody>
          <a:bodyPr wrap="square" lIns="0" tIns="0" rIns="0" bIns="0" anchor="ctr">
            <a:noAutofit/>
          </a:bodyPr>
          <a:lstStyle/>
          <a:p>
            <a:pPr algn="l"/>
            <a:r>
              <a:rPr sz="1300" b="1">
                <a:solidFill>
                  <a:srgbClr val="0B5CAD"/>
                </a:solidFill>
                <a:latin typeface="Calibri"/>
              </a:rPr>
              <a:t>EMPLOYEE PORTAL</a:t>
            </a:r>
            <a:r>
              <a:rPr sz="1100" b="0">
                <a:solidFill>
                  <a:srgbClr val="5A6578"/>
                </a:solidFill>
                <a:latin typeface="Calibri"/>
              </a:rPr>
              <a:t>    :5001</a:t>
            </a:r>
          </a:p>
        </p:txBody>
      </p:sp>
      <p:sp>
        <p:nvSpPr>
          <p:cNvPr id="5" name="Lane: Shared backend"/>
          <p:cNvSpPr/>
          <p:nvPr/>
        </p:nvSpPr>
        <p:spPr>
          <a:xfrm>
            <a:off x="3886200" y="868680"/>
            <a:ext cx="4297680" cy="5532120"/>
          </a:xfrm>
          <a:prstGeom prst="roundRect">
            <a:avLst>
              <a:gd name="adj" fmla="val 3191"/>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ane title: Shared backend"/>
          <p:cNvSpPr txBox="1"/>
          <p:nvPr/>
        </p:nvSpPr>
        <p:spPr>
          <a:xfrm>
            <a:off x="4069080" y="914400"/>
            <a:ext cx="3931920" cy="320040"/>
          </a:xfrm>
          <a:prstGeom prst="rect">
            <a:avLst/>
          </a:prstGeom>
          <a:noFill/>
        </p:spPr>
        <p:txBody>
          <a:bodyPr wrap="square" lIns="0" tIns="0" rIns="0" bIns="0" anchor="ctr">
            <a:noAutofit/>
          </a:bodyPr>
          <a:lstStyle/>
          <a:p>
            <a:pPr algn="l"/>
            <a:r>
              <a:rPr sz="1300" b="1">
                <a:solidFill>
                  <a:srgbClr val="127A46"/>
                </a:solidFill>
                <a:latin typeface="Calibri"/>
              </a:rPr>
              <a:t>SHARED BACKEND</a:t>
            </a:r>
            <a:r>
              <a:rPr sz="1100" b="0">
                <a:solidFill>
                  <a:srgbClr val="5A6578"/>
                </a:solidFill>
                <a:latin typeface="Calibri"/>
              </a:rPr>
              <a:t>    Flask API + SQLite  :5000</a:t>
            </a:r>
          </a:p>
        </p:txBody>
      </p:sp>
      <p:sp>
        <p:nvSpPr>
          <p:cNvPr id="7" name="Lane: HR portal"/>
          <p:cNvSpPr/>
          <p:nvPr/>
        </p:nvSpPr>
        <p:spPr>
          <a:xfrm>
            <a:off x="8686800" y="868680"/>
            <a:ext cx="3044952" cy="5532120"/>
          </a:xfrm>
          <a:prstGeom prst="roundRect">
            <a:avLst>
              <a:gd name="adj" fmla="val 4504"/>
            </a:avLst>
          </a:prstGeom>
          <a:solidFill>
            <a:srgbClr val="EF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ane title: HR portal"/>
          <p:cNvSpPr txBox="1"/>
          <p:nvPr/>
        </p:nvSpPr>
        <p:spPr>
          <a:xfrm>
            <a:off x="8869680" y="914400"/>
            <a:ext cx="2679192" cy="320040"/>
          </a:xfrm>
          <a:prstGeom prst="rect">
            <a:avLst/>
          </a:prstGeom>
          <a:noFill/>
        </p:spPr>
        <p:txBody>
          <a:bodyPr wrap="square" lIns="0" tIns="0" rIns="0" bIns="0" anchor="ctr">
            <a:noAutofit/>
          </a:bodyPr>
          <a:lstStyle/>
          <a:p>
            <a:pPr algn="l"/>
            <a:r>
              <a:rPr sz="1300" b="1">
                <a:solidFill>
                  <a:srgbClr val="5B3CC4"/>
                </a:solidFill>
                <a:latin typeface="Calibri"/>
              </a:rPr>
              <a:t>HR PORTAL</a:t>
            </a:r>
            <a:r>
              <a:rPr sz="1100" b="0">
                <a:solidFill>
                  <a:srgbClr val="5A6578"/>
                </a:solidFill>
                <a:latin typeface="Calibri"/>
              </a:rPr>
              <a:t>    :5002</a:t>
            </a:r>
          </a:p>
        </p:txBody>
      </p:sp>
      <p:sp>
        <p:nvSpPr>
          <p:cNvPr id="9" name="Card: Upload bills"/>
          <p:cNvSpPr/>
          <p:nvPr/>
        </p:nvSpPr>
        <p:spPr>
          <a:xfrm>
            <a:off x="594360" y="1325880"/>
            <a:ext cx="2651760" cy="914400"/>
          </a:xfrm>
          <a:prstGeom prst="roundRect">
            <a:avLst>
              <a:gd name="adj" fmla="val 10000"/>
            </a:avLst>
          </a:prstGeom>
          <a:solidFill>
            <a:srgbClr val="FFFFFF"/>
          </a:solidFill>
          <a:ln w="15875">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1"/>
          <p:cNvSpPr/>
          <p:nvPr/>
        </p:nvSpPr>
        <p:spPr>
          <a:xfrm>
            <a:off x="704088" y="1417320"/>
            <a:ext cx="274320" cy="274320"/>
          </a:xfrm>
          <a:prstGeom prst="ellipse">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1</a:t>
            </a:r>
          </a:p>
        </p:txBody>
      </p:sp>
      <p:sp>
        <p:nvSpPr>
          <p:cNvPr id="11" name="Title: Upload bills"/>
          <p:cNvSpPr txBox="1"/>
          <p:nvPr/>
        </p:nvSpPr>
        <p:spPr>
          <a:xfrm>
            <a:off x="1069848" y="1417320"/>
            <a:ext cx="2103120" cy="274320"/>
          </a:xfrm>
          <a:prstGeom prst="rect">
            <a:avLst/>
          </a:prstGeom>
          <a:noFill/>
        </p:spPr>
        <p:txBody>
          <a:bodyPr wrap="square" lIns="0" tIns="0" rIns="0" bIns="0" anchor="ctr">
            <a:noAutofit/>
          </a:bodyPr>
          <a:lstStyle/>
          <a:p>
            <a:pPr algn="l"/>
            <a:r>
              <a:rPr sz="1400" b="1">
                <a:solidFill>
                  <a:srgbClr val="1D2433"/>
                </a:solidFill>
                <a:latin typeface="Calibri"/>
              </a:rPr>
              <a:t>Upload bills</a:t>
            </a:r>
          </a:p>
        </p:txBody>
      </p:sp>
      <p:sp>
        <p:nvSpPr>
          <p:cNvPr id="12" name="Text: Upload bills"/>
          <p:cNvSpPr txBox="1"/>
          <p:nvPr/>
        </p:nvSpPr>
        <p:spPr>
          <a:xfrm>
            <a:off x="731520" y="1737360"/>
            <a:ext cx="2377440" cy="457200"/>
          </a:xfrm>
          <a:prstGeom prst="rect">
            <a:avLst/>
          </a:prstGeom>
          <a:noFill/>
        </p:spPr>
        <p:txBody>
          <a:bodyPr wrap="square" lIns="0" tIns="0" rIns="0" bIns="0" anchor="t">
            <a:noAutofit/>
          </a:bodyPr>
          <a:lstStyle/>
          <a:p>
            <a:pPr algn="l"/>
            <a:r>
              <a:rPr sz="1200" b="0">
                <a:solidFill>
                  <a:srgbClr val="1D2433"/>
                </a:solidFill>
                <a:latin typeface="Calibri"/>
              </a:rPr>
              <a:t>Photos or PDFs, many at once. Each bill becomes one row.</a:t>
            </a:r>
          </a:p>
        </p:txBody>
      </p:sp>
      <p:sp>
        <p:nvSpPr>
          <p:cNvPr id="13" name="Card: Review and send"/>
          <p:cNvSpPr/>
          <p:nvPr/>
        </p:nvSpPr>
        <p:spPr>
          <a:xfrm>
            <a:off x="594360" y="2423160"/>
            <a:ext cx="2651760" cy="1920240"/>
          </a:xfrm>
          <a:prstGeom prst="roundRect">
            <a:avLst>
              <a:gd name="adj" fmla="val 4761"/>
            </a:avLst>
          </a:prstGeom>
          <a:solidFill>
            <a:srgbClr val="FFFFFF"/>
          </a:solidFill>
          <a:ln w="15875">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3"/>
          <p:cNvSpPr/>
          <p:nvPr/>
        </p:nvSpPr>
        <p:spPr>
          <a:xfrm>
            <a:off x="704088" y="2514600"/>
            <a:ext cx="274320" cy="274320"/>
          </a:xfrm>
          <a:prstGeom prst="ellipse">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3</a:t>
            </a:r>
          </a:p>
        </p:txBody>
      </p:sp>
      <p:sp>
        <p:nvSpPr>
          <p:cNvPr id="15" name="Title: Review and send"/>
          <p:cNvSpPr txBox="1"/>
          <p:nvPr/>
        </p:nvSpPr>
        <p:spPr>
          <a:xfrm>
            <a:off x="1069848" y="2514600"/>
            <a:ext cx="2103120" cy="274320"/>
          </a:xfrm>
          <a:prstGeom prst="rect">
            <a:avLst/>
          </a:prstGeom>
          <a:noFill/>
        </p:spPr>
        <p:txBody>
          <a:bodyPr wrap="square" lIns="0" tIns="0" rIns="0" bIns="0" anchor="ctr">
            <a:noAutofit/>
          </a:bodyPr>
          <a:lstStyle/>
          <a:p>
            <a:pPr algn="l"/>
            <a:r>
              <a:rPr sz="1400" b="1">
                <a:solidFill>
                  <a:srgbClr val="1D2433"/>
                </a:solidFill>
                <a:latin typeface="Calibri"/>
              </a:rPr>
              <a:t>Review &amp; send</a:t>
            </a:r>
          </a:p>
        </p:txBody>
      </p:sp>
      <p:sp>
        <p:nvSpPr>
          <p:cNvPr id="16" name="Text: Review and send"/>
          <p:cNvSpPr txBox="1"/>
          <p:nvPr/>
        </p:nvSpPr>
        <p:spPr>
          <a:xfrm>
            <a:off x="731520" y="2834640"/>
            <a:ext cx="2377440" cy="566928"/>
          </a:xfrm>
          <a:prstGeom prst="rect">
            <a:avLst/>
          </a:prstGeom>
          <a:noFill/>
        </p:spPr>
        <p:txBody>
          <a:bodyPr wrap="square" lIns="0" tIns="0" rIns="0" bIns="0" anchor="t">
            <a:noAutofit/>
          </a:bodyPr>
          <a:lstStyle/>
          <a:p>
            <a:pPr algn="l"/>
            <a:r>
              <a:rPr sz="1200" b="0">
                <a:solidFill>
                  <a:srgbClr val="1D2433"/>
                </a:solidFill>
                <a:latin typeface="Calibri"/>
              </a:rPr>
              <a:t>Fix any field the reader got wrong, then send each bill to HR.</a:t>
            </a:r>
          </a:p>
        </p:txBody>
      </p:sp>
      <p:sp>
        <p:nvSpPr>
          <p:cNvPr id="17" name="Mock row 1"/>
          <p:cNvSpPr/>
          <p:nvPr/>
        </p:nvSpPr>
        <p:spPr>
          <a:xfrm>
            <a:off x="731520" y="3474720"/>
            <a:ext cx="2377440" cy="237744"/>
          </a:xfrm>
          <a:prstGeom prst="roundRect">
            <a:avLst>
              <a:gd name="adj" fmla="val 1923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0" rIns="73152" bIns="0">
            <a:noAutofit/>
          </a:bodyPr>
          <a:lstStyle/>
          <a:p>
            <a:pPr algn="l"/>
            <a:r>
              <a:rPr sz="1000" b="0">
                <a:solidFill>
                  <a:srgbClr val="1D2433"/>
                </a:solidFill>
                <a:latin typeface="Calibri"/>
              </a:rPr>
              <a:t>Bill 1 · ₹1,980</a:t>
            </a:r>
          </a:p>
        </p:txBody>
      </p:sp>
      <p:sp>
        <p:nvSpPr>
          <p:cNvPr id="18" name="Mock Send button 1"/>
          <p:cNvSpPr/>
          <p:nvPr/>
        </p:nvSpPr>
        <p:spPr>
          <a:xfrm>
            <a:off x="2542032" y="3502151"/>
            <a:ext cx="502920" cy="182880"/>
          </a:xfrm>
          <a:prstGeom prst="roundRect">
            <a:avLst>
              <a:gd name="adj" fmla="val 30000"/>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FFFFFF"/>
                </a:solidFill>
                <a:latin typeface="Calibri"/>
              </a:rPr>
              <a:t>Send</a:t>
            </a:r>
          </a:p>
        </p:txBody>
      </p:sp>
      <p:sp>
        <p:nvSpPr>
          <p:cNvPr id="19" name="Mock row 2"/>
          <p:cNvSpPr/>
          <p:nvPr/>
        </p:nvSpPr>
        <p:spPr>
          <a:xfrm>
            <a:off x="731520" y="3749039"/>
            <a:ext cx="2377440" cy="237744"/>
          </a:xfrm>
          <a:prstGeom prst="roundRect">
            <a:avLst>
              <a:gd name="adj" fmla="val 1923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0" rIns="73152" bIns="0">
            <a:noAutofit/>
          </a:bodyPr>
          <a:lstStyle/>
          <a:p>
            <a:pPr algn="l"/>
            <a:r>
              <a:rPr sz="1000" b="0">
                <a:solidFill>
                  <a:srgbClr val="1D2433"/>
                </a:solidFill>
                <a:latin typeface="Calibri"/>
              </a:rPr>
              <a:t>Bill 2 · ₹2,050</a:t>
            </a:r>
          </a:p>
        </p:txBody>
      </p:sp>
      <p:sp>
        <p:nvSpPr>
          <p:cNvPr id="20" name="Mock Send button 2"/>
          <p:cNvSpPr/>
          <p:nvPr/>
        </p:nvSpPr>
        <p:spPr>
          <a:xfrm>
            <a:off x="2542032" y="3776472"/>
            <a:ext cx="502920" cy="182880"/>
          </a:xfrm>
          <a:prstGeom prst="roundRect">
            <a:avLst>
              <a:gd name="adj" fmla="val 30000"/>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FFFFFF"/>
                </a:solidFill>
                <a:latin typeface="Calibri"/>
              </a:rPr>
              <a:t>Send</a:t>
            </a:r>
          </a:p>
        </p:txBody>
      </p:sp>
      <p:sp>
        <p:nvSpPr>
          <p:cNvPr id="21" name="Mock row 3"/>
          <p:cNvSpPr/>
          <p:nvPr/>
        </p:nvSpPr>
        <p:spPr>
          <a:xfrm>
            <a:off x="731520" y="4023359"/>
            <a:ext cx="2377440" cy="237744"/>
          </a:xfrm>
          <a:prstGeom prst="roundRect">
            <a:avLst>
              <a:gd name="adj" fmla="val 1923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0" rIns="73152" bIns="0">
            <a:noAutofit/>
          </a:bodyPr>
          <a:lstStyle/>
          <a:p>
            <a:pPr algn="l"/>
            <a:r>
              <a:rPr sz="1000" b="0">
                <a:solidFill>
                  <a:srgbClr val="1D2433"/>
                </a:solidFill>
                <a:latin typeface="Calibri"/>
              </a:rPr>
              <a:t>Bill 3 · ₹9,450</a:t>
            </a:r>
          </a:p>
        </p:txBody>
      </p:sp>
      <p:sp>
        <p:nvSpPr>
          <p:cNvPr id="22" name="Mock Send button 3"/>
          <p:cNvSpPr/>
          <p:nvPr/>
        </p:nvSpPr>
        <p:spPr>
          <a:xfrm>
            <a:off x="2542032" y="4050791"/>
            <a:ext cx="502920" cy="182880"/>
          </a:xfrm>
          <a:prstGeom prst="roundRect">
            <a:avLst>
              <a:gd name="adj" fmla="val 30000"/>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FFFFFF"/>
                </a:solidFill>
                <a:latin typeface="Calibri"/>
              </a:rPr>
              <a:t>Send</a:t>
            </a:r>
          </a:p>
        </p:txBody>
      </p:sp>
      <p:sp>
        <p:nvSpPr>
          <p:cNvPr id="23" name="Card: Track status"/>
          <p:cNvSpPr/>
          <p:nvPr/>
        </p:nvSpPr>
        <p:spPr>
          <a:xfrm>
            <a:off x="594360" y="4754880"/>
            <a:ext cx="2651760" cy="1508760"/>
          </a:xfrm>
          <a:prstGeom prst="roundRect">
            <a:avLst>
              <a:gd name="adj" fmla="val 6060"/>
            </a:avLst>
          </a:prstGeom>
          <a:solidFill>
            <a:srgbClr val="FFFFFF"/>
          </a:solidFill>
          <a:ln w="15875">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ep 9"/>
          <p:cNvSpPr/>
          <p:nvPr/>
        </p:nvSpPr>
        <p:spPr>
          <a:xfrm>
            <a:off x="704088" y="4846320"/>
            <a:ext cx="274320" cy="274320"/>
          </a:xfrm>
          <a:prstGeom prst="ellipse">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9</a:t>
            </a:r>
          </a:p>
        </p:txBody>
      </p:sp>
      <p:sp>
        <p:nvSpPr>
          <p:cNvPr id="25" name="Title: Track status"/>
          <p:cNvSpPr txBox="1"/>
          <p:nvPr/>
        </p:nvSpPr>
        <p:spPr>
          <a:xfrm>
            <a:off x="1069848" y="4846320"/>
            <a:ext cx="2103120" cy="274320"/>
          </a:xfrm>
          <a:prstGeom prst="rect">
            <a:avLst/>
          </a:prstGeom>
          <a:noFill/>
        </p:spPr>
        <p:txBody>
          <a:bodyPr wrap="square" lIns="0" tIns="0" rIns="0" bIns="0" anchor="ctr">
            <a:noAutofit/>
          </a:bodyPr>
          <a:lstStyle/>
          <a:p>
            <a:pPr algn="l"/>
            <a:r>
              <a:rPr sz="1400" b="1">
                <a:solidFill>
                  <a:srgbClr val="1D2433"/>
                </a:solidFill>
                <a:latin typeface="Calibri"/>
              </a:rPr>
              <a:t>Track status</a:t>
            </a:r>
          </a:p>
        </p:txBody>
      </p:sp>
      <p:sp>
        <p:nvSpPr>
          <p:cNvPr id="26" name="Text: Track status"/>
          <p:cNvSpPr txBox="1"/>
          <p:nvPr/>
        </p:nvSpPr>
        <p:spPr>
          <a:xfrm>
            <a:off x="731520" y="5166360"/>
            <a:ext cx="2377440" cy="548640"/>
          </a:xfrm>
          <a:prstGeom prst="rect">
            <a:avLst/>
          </a:prstGeom>
          <a:noFill/>
        </p:spPr>
        <p:txBody>
          <a:bodyPr wrap="square" lIns="0" tIns="0" rIns="0" bIns="0" anchor="t">
            <a:noAutofit/>
          </a:bodyPr>
          <a:lstStyle/>
          <a:p>
            <a:pPr algn="l"/>
            <a:r>
              <a:rPr sz="1200" b="0">
                <a:solidFill>
                  <a:srgbClr val="1D2433"/>
                </a:solidFill>
                <a:latin typeface="Calibri"/>
              </a:rPr>
              <a:t>HR's decision shows up in seconds, with the reason if rejected.</a:t>
            </a:r>
          </a:p>
        </p:txBody>
      </p:sp>
      <p:sp>
        <p:nvSpPr>
          <p:cNvPr id="27" name="Status chip Pending"/>
          <p:cNvSpPr/>
          <p:nvPr/>
        </p:nvSpPr>
        <p:spPr>
          <a:xfrm>
            <a:off x="731520" y="5788152"/>
            <a:ext cx="749808" cy="274320"/>
          </a:xfrm>
          <a:prstGeom prst="roundRect">
            <a:avLst>
              <a:gd name="adj" fmla="val 20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9A5B00"/>
                </a:solidFill>
                <a:latin typeface="Calibri"/>
              </a:rPr>
              <a:t>Pending</a:t>
            </a:r>
          </a:p>
        </p:txBody>
      </p:sp>
      <p:sp>
        <p:nvSpPr>
          <p:cNvPr id="28" name="Status chip Approved"/>
          <p:cNvSpPr/>
          <p:nvPr/>
        </p:nvSpPr>
        <p:spPr>
          <a:xfrm>
            <a:off x="1572768" y="5788152"/>
            <a:ext cx="749808" cy="274320"/>
          </a:xfrm>
          <a:prstGeom prst="roundRect">
            <a:avLst>
              <a:gd name="adj" fmla="val 20000"/>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127A46"/>
                </a:solidFill>
                <a:latin typeface="Calibri"/>
              </a:rPr>
              <a:t>Approved</a:t>
            </a:r>
          </a:p>
        </p:txBody>
      </p:sp>
      <p:sp>
        <p:nvSpPr>
          <p:cNvPr id="29" name="Status chip Rejected"/>
          <p:cNvSpPr/>
          <p:nvPr/>
        </p:nvSpPr>
        <p:spPr>
          <a:xfrm>
            <a:off x="2414016" y="5788152"/>
            <a:ext cx="749808" cy="274320"/>
          </a:xfrm>
          <a:prstGeom prst="roundRect">
            <a:avLst>
              <a:gd name="adj" fmla="val 2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B42318"/>
                </a:solidFill>
                <a:latin typeface="Calibri"/>
              </a:rPr>
              <a:t>Rejected</a:t>
            </a:r>
          </a:p>
        </p:txBody>
      </p:sp>
      <p:sp>
        <p:nvSpPr>
          <p:cNvPr id="30" name="Card: Bill reader"/>
          <p:cNvSpPr/>
          <p:nvPr/>
        </p:nvSpPr>
        <p:spPr>
          <a:xfrm>
            <a:off x="4023360" y="1325880"/>
            <a:ext cx="4023360" cy="1234440"/>
          </a:xfrm>
          <a:prstGeom prst="roundRect">
            <a:avLst>
              <a:gd name="adj" fmla="val 7407"/>
            </a:avLst>
          </a:prstGeom>
          <a:solidFill>
            <a:srgbClr val="FFFFFF"/>
          </a:solidFill>
          <a:ln w="15875">
            <a:solidFill>
              <a:srgbClr val="127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tep 2"/>
          <p:cNvSpPr/>
          <p:nvPr/>
        </p:nvSpPr>
        <p:spPr>
          <a:xfrm>
            <a:off x="4133087" y="1417320"/>
            <a:ext cx="274320" cy="274320"/>
          </a:xfrm>
          <a:prstGeom prst="ellipse">
            <a:avLst/>
          </a:prstGeom>
          <a:solidFill>
            <a:srgbClr val="12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2</a:t>
            </a:r>
          </a:p>
        </p:txBody>
      </p:sp>
      <p:sp>
        <p:nvSpPr>
          <p:cNvPr id="32" name="Title: Bill reader"/>
          <p:cNvSpPr txBox="1"/>
          <p:nvPr/>
        </p:nvSpPr>
        <p:spPr>
          <a:xfrm>
            <a:off x="4608576" y="1417320"/>
            <a:ext cx="2103120" cy="274320"/>
          </a:xfrm>
          <a:prstGeom prst="rect">
            <a:avLst/>
          </a:prstGeom>
          <a:noFill/>
        </p:spPr>
        <p:txBody>
          <a:bodyPr wrap="square" lIns="0" tIns="0" rIns="0" bIns="0" anchor="ctr">
            <a:noAutofit/>
          </a:bodyPr>
          <a:lstStyle/>
          <a:p>
            <a:pPr algn="l"/>
            <a:r>
              <a:rPr sz="1400" b="1">
                <a:solidFill>
                  <a:srgbClr val="1D2433"/>
                </a:solidFill>
                <a:latin typeface="Calibri"/>
              </a:rPr>
              <a:t>Bill reader</a:t>
            </a:r>
          </a:p>
        </p:txBody>
      </p:sp>
      <p:sp>
        <p:nvSpPr>
          <p:cNvPr id="33" name="Chip: AI / OCR"/>
          <p:cNvSpPr/>
          <p:nvPr/>
        </p:nvSpPr>
        <p:spPr>
          <a:xfrm>
            <a:off x="6903720" y="1435608"/>
            <a:ext cx="1005840" cy="237744"/>
          </a:xfrm>
          <a:prstGeom prst="roundRect">
            <a:avLst>
              <a:gd name="adj" fmla="val 23076"/>
            </a:avLst>
          </a:prstGeom>
          <a:solidFill>
            <a:srgbClr val="12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FFFFFF"/>
                </a:solidFill>
                <a:latin typeface="Calibri"/>
              </a:rPr>
              <a:t>AI / OCR</a:t>
            </a:r>
          </a:p>
        </p:txBody>
      </p:sp>
      <p:sp>
        <p:nvSpPr>
          <p:cNvPr id="34" name="Text: Bill reader"/>
          <p:cNvSpPr txBox="1"/>
          <p:nvPr/>
        </p:nvSpPr>
        <p:spPr>
          <a:xfrm>
            <a:off x="4160520" y="1737360"/>
            <a:ext cx="3749039" cy="457200"/>
          </a:xfrm>
          <a:prstGeom prst="rect">
            <a:avLst/>
          </a:prstGeom>
          <a:noFill/>
        </p:spPr>
        <p:txBody>
          <a:bodyPr wrap="square" lIns="0" tIns="0" rIns="0" bIns="0" anchor="t">
            <a:noAutofit/>
          </a:bodyPr>
          <a:lstStyle/>
          <a:p>
            <a:pPr algn="l"/>
            <a:r>
              <a:rPr sz="1200" b="0">
                <a:solidFill>
                  <a:srgbClr val="1D2433"/>
                </a:solidFill>
                <a:latin typeface="Calibri"/>
              </a:rPr>
              <a:t>Claude AI if an API key is set, else Tesseract OCR. Also tags the bill type.</a:t>
            </a:r>
          </a:p>
        </p:txBody>
      </p:sp>
      <p:sp>
        <p:nvSpPr>
          <p:cNvPr id="35" name="Parsed field: Bill no."/>
          <p:cNvSpPr/>
          <p:nvPr/>
        </p:nvSpPr>
        <p:spPr>
          <a:xfrm>
            <a:off x="4160520" y="2221992"/>
            <a:ext cx="822960" cy="256032"/>
          </a:xfrm>
          <a:prstGeom prst="roundRect">
            <a:avLst>
              <a:gd name="adj" fmla="val 21428"/>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127A46"/>
                </a:solidFill>
                <a:latin typeface="Calibri"/>
              </a:rPr>
              <a:t>Bill no.</a:t>
            </a:r>
          </a:p>
        </p:txBody>
      </p:sp>
      <p:sp>
        <p:nvSpPr>
          <p:cNvPr id="36" name="Parsed field: Date"/>
          <p:cNvSpPr/>
          <p:nvPr/>
        </p:nvSpPr>
        <p:spPr>
          <a:xfrm>
            <a:off x="5074920" y="2221992"/>
            <a:ext cx="822960" cy="256032"/>
          </a:xfrm>
          <a:prstGeom prst="roundRect">
            <a:avLst>
              <a:gd name="adj" fmla="val 21428"/>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127A46"/>
                </a:solidFill>
                <a:latin typeface="Calibri"/>
              </a:rPr>
              <a:t>Date</a:t>
            </a:r>
          </a:p>
        </p:txBody>
      </p:sp>
      <p:sp>
        <p:nvSpPr>
          <p:cNvPr id="37" name="Parsed field: Amount"/>
          <p:cNvSpPr/>
          <p:nvPr/>
        </p:nvSpPr>
        <p:spPr>
          <a:xfrm>
            <a:off x="5989320" y="2221992"/>
            <a:ext cx="822960" cy="256032"/>
          </a:xfrm>
          <a:prstGeom prst="roundRect">
            <a:avLst>
              <a:gd name="adj" fmla="val 21428"/>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127A46"/>
                </a:solidFill>
                <a:latin typeface="Calibri"/>
              </a:rPr>
              <a:t>Amount</a:t>
            </a:r>
          </a:p>
        </p:txBody>
      </p:sp>
      <p:sp>
        <p:nvSpPr>
          <p:cNvPr id="38" name="Parsed field: Type"/>
          <p:cNvSpPr/>
          <p:nvPr/>
        </p:nvSpPr>
        <p:spPr>
          <a:xfrm>
            <a:off x="6903720" y="2221992"/>
            <a:ext cx="822960" cy="256032"/>
          </a:xfrm>
          <a:prstGeom prst="roundRect">
            <a:avLst>
              <a:gd name="adj" fmla="val 21428"/>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127A46"/>
                </a:solidFill>
                <a:latin typeface="Calibri"/>
              </a:rPr>
              <a:t>Type</a:t>
            </a:r>
          </a:p>
        </p:txBody>
      </p:sp>
      <p:sp>
        <p:nvSpPr>
          <p:cNvPr id="39" name="Card: Checks on send"/>
          <p:cNvSpPr/>
          <p:nvPr/>
        </p:nvSpPr>
        <p:spPr>
          <a:xfrm>
            <a:off x="4023360" y="2788920"/>
            <a:ext cx="4023360" cy="365760"/>
          </a:xfrm>
          <a:prstGeom prst="roundRect">
            <a:avLst>
              <a:gd name="adj" fmla="val 25000"/>
            </a:avLst>
          </a:prstGeom>
          <a:solidFill>
            <a:srgbClr val="FFFFFF"/>
          </a:solidFill>
          <a:ln w="15875">
            <a:solidFill>
              <a:srgbClr val="127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tep 4"/>
          <p:cNvSpPr/>
          <p:nvPr/>
        </p:nvSpPr>
        <p:spPr>
          <a:xfrm>
            <a:off x="4087368" y="2834640"/>
            <a:ext cx="274320" cy="274320"/>
          </a:xfrm>
          <a:prstGeom prst="ellipse">
            <a:avLst/>
          </a:prstGeom>
          <a:solidFill>
            <a:srgbClr val="12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4</a:t>
            </a:r>
          </a:p>
        </p:txBody>
      </p:sp>
      <p:sp>
        <p:nvSpPr>
          <p:cNvPr id="41" name="Text: Checks on send"/>
          <p:cNvSpPr txBox="1"/>
          <p:nvPr/>
        </p:nvSpPr>
        <p:spPr>
          <a:xfrm>
            <a:off x="4572000" y="2788920"/>
            <a:ext cx="3383280" cy="365760"/>
          </a:xfrm>
          <a:prstGeom prst="rect">
            <a:avLst/>
          </a:prstGeom>
          <a:noFill/>
        </p:spPr>
        <p:txBody>
          <a:bodyPr wrap="square" lIns="0" tIns="0" rIns="0" bIns="0" anchor="ctr">
            <a:noAutofit/>
          </a:bodyPr>
          <a:lstStyle/>
          <a:p>
            <a:pPr algn="l"/>
            <a:r>
              <a:rPr sz="1200" b="1">
                <a:solidFill>
                  <a:srgbClr val="1D2433"/>
                </a:solidFill>
                <a:latin typeface="Calibri"/>
              </a:rPr>
              <a:t>Checks on send: </a:t>
            </a:r>
            <a:r>
              <a:rPr sz="1200" b="0">
                <a:solidFill>
                  <a:srgbClr val="1D2433"/>
                </a:solidFill>
                <a:latin typeface="Calibri"/>
              </a:rPr>
              <a:t>fields, date, duplicates</a:t>
            </a:r>
          </a:p>
        </p:txBody>
      </p:sp>
      <p:sp>
        <p:nvSpPr>
          <p:cNvPr id="42" name="Card: Anomaly detection"/>
          <p:cNvSpPr/>
          <p:nvPr/>
        </p:nvSpPr>
        <p:spPr>
          <a:xfrm>
            <a:off x="4023360" y="3383280"/>
            <a:ext cx="4023360" cy="1143000"/>
          </a:xfrm>
          <a:prstGeom prst="roundRect">
            <a:avLst>
              <a:gd name="adj" fmla="val 8000"/>
            </a:avLst>
          </a:prstGeom>
          <a:solidFill>
            <a:srgbClr val="FFFFFF"/>
          </a:solidFill>
          <a:ln w="15875">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tep 5"/>
          <p:cNvSpPr/>
          <p:nvPr/>
        </p:nvSpPr>
        <p:spPr>
          <a:xfrm>
            <a:off x="4133087" y="3474720"/>
            <a:ext cx="274320" cy="274320"/>
          </a:xfrm>
          <a:prstGeom prst="ellipse">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5</a:t>
            </a:r>
          </a:p>
        </p:txBody>
      </p:sp>
      <p:sp>
        <p:nvSpPr>
          <p:cNvPr id="44" name="Title: Anomaly detection"/>
          <p:cNvSpPr txBox="1"/>
          <p:nvPr/>
        </p:nvSpPr>
        <p:spPr>
          <a:xfrm>
            <a:off x="4608576" y="3474720"/>
            <a:ext cx="2286000" cy="274320"/>
          </a:xfrm>
          <a:prstGeom prst="rect">
            <a:avLst/>
          </a:prstGeom>
          <a:noFill/>
        </p:spPr>
        <p:txBody>
          <a:bodyPr wrap="square" lIns="0" tIns="0" rIns="0" bIns="0" anchor="ctr">
            <a:noAutofit/>
          </a:bodyPr>
          <a:lstStyle/>
          <a:p>
            <a:pPr algn="l"/>
            <a:r>
              <a:rPr sz="1400" b="1">
                <a:solidFill>
                  <a:srgbClr val="1D2433"/>
                </a:solidFill>
                <a:latin typeface="Calibri"/>
              </a:rPr>
              <a:t>Anomaly detection</a:t>
            </a:r>
          </a:p>
        </p:txBody>
      </p:sp>
      <p:sp>
        <p:nvSpPr>
          <p:cNvPr id="45" name="Chip: ML model"/>
          <p:cNvSpPr/>
          <p:nvPr/>
        </p:nvSpPr>
        <p:spPr>
          <a:xfrm>
            <a:off x="6995160" y="3493008"/>
            <a:ext cx="914400" cy="237744"/>
          </a:xfrm>
          <a:prstGeom prst="roundRect">
            <a:avLst>
              <a:gd name="adj" fmla="val 23076"/>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FFFFFF"/>
                </a:solidFill>
                <a:latin typeface="Calibri"/>
              </a:rPr>
              <a:t>ML model</a:t>
            </a:r>
          </a:p>
        </p:txBody>
      </p:sp>
      <p:sp>
        <p:nvSpPr>
          <p:cNvPr id="46" name="Text: Anomaly detection"/>
          <p:cNvSpPr txBox="1"/>
          <p:nvPr/>
        </p:nvSpPr>
        <p:spPr>
          <a:xfrm>
            <a:off x="4160520" y="3794760"/>
            <a:ext cx="3749039" cy="685800"/>
          </a:xfrm>
          <a:prstGeom prst="rect">
            <a:avLst/>
          </a:prstGeom>
          <a:noFill/>
        </p:spPr>
        <p:txBody>
          <a:bodyPr wrap="square" lIns="0" tIns="0" rIns="0" bIns="0" anchor="t">
            <a:noAutofit/>
          </a:bodyPr>
          <a:lstStyle/>
          <a:p>
            <a:pPr algn="l">
              <a:spcAft>
                <a:spcPts val="300"/>
              </a:spcAft>
            </a:pPr>
            <a:r>
              <a:rPr sz="1200" b="1">
                <a:solidFill>
                  <a:srgbClr val="1D2433"/>
                </a:solidFill>
                <a:latin typeface="Calibri"/>
              </a:rPr>
              <a:t>Rules: </a:t>
            </a:r>
            <a:r>
              <a:rPr sz="1200" b="0">
                <a:solidFill>
                  <a:srgbClr val="1D2433"/>
                </a:solidFill>
                <a:latin typeface="Calibri"/>
              </a:rPr>
              <a:t>amount vs own history, company-wide and monthly total</a:t>
            </a:r>
          </a:p>
          <a:p>
            <a:pPr algn="l">
              <a:spcAft>
                <a:spcPts val="300"/>
              </a:spcAft>
            </a:pPr>
            <a:r>
              <a:rPr sz="1200" b="1">
                <a:solidFill>
                  <a:srgbClr val="1D2433"/>
                </a:solidFill>
                <a:latin typeface="Calibri"/>
              </a:rPr>
              <a:t>ML: </a:t>
            </a:r>
            <a:r>
              <a:rPr sz="1200" b="0">
                <a:solidFill>
                  <a:srgbClr val="1D2433"/>
                </a:solidFill>
                <a:latin typeface="Calibri"/>
              </a:rPr>
              <a:t>Isolation Forest learns from approved bills</a:t>
            </a:r>
          </a:p>
        </p:txBody>
      </p:sp>
      <p:sp>
        <p:nvSpPr>
          <p:cNvPr id="47" name="Decision: auto-approve"/>
          <p:cNvSpPr/>
          <p:nvPr/>
        </p:nvSpPr>
        <p:spPr>
          <a:xfrm>
            <a:off x="4480560" y="4754880"/>
            <a:ext cx="3108960" cy="822960"/>
          </a:xfrm>
          <a:prstGeom prst="diamond">
            <a:avLst/>
          </a:prstGeom>
          <a:solidFill>
            <a:srgbClr val="FFF3D6"/>
          </a:solidFill>
          <a:ln w="15875">
            <a:solidFill>
              <a:srgbClr val="9A5B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a:solidFill>
                  <a:srgbClr val="1D2433"/>
                </a:solidFill>
                <a:latin typeface="Calibri"/>
              </a:rPr>
              <a:t>Auto-approve ON and no anomaly?</a:t>
            </a:r>
          </a:p>
        </p:txBody>
      </p:sp>
      <p:sp>
        <p:nvSpPr>
          <p:cNvPr id="48" name="Step 6"/>
          <p:cNvSpPr/>
          <p:nvPr/>
        </p:nvSpPr>
        <p:spPr>
          <a:xfrm>
            <a:off x="4114800" y="5029200"/>
            <a:ext cx="274320" cy="274320"/>
          </a:xfrm>
          <a:prstGeom prst="ellipse">
            <a:avLst/>
          </a:prstGeom>
          <a:solidFill>
            <a:srgbClr val="9A5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6</a:t>
            </a:r>
          </a:p>
        </p:txBody>
      </p:sp>
      <p:sp>
        <p:nvSpPr>
          <p:cNvPr id="49" name="Shared database"/>
          <p:cNvSpPr/>
          <p:nvPr/>
        </p:nvSpPr>
        <p:spPr>
          <a:xfrm>
            <a:off x="4023360" y="5852160"/>
            <a:ext cx="4023360" cy="457200"/>
          </a:xfrm>
          <a:prstGeom prst="roundRect">
            <a:avLst>
              <a:gd name="adj" fmla="val 20000"/>
            </a:avLst>
          </a:prstGeom>
          <a:solidFill>
            <a:srgbClr val="FFFFFF"/>
          </a:solidFill>
          <a:ln w="15875">
            <a:solidFill>
              <a:srgbClr val="6B74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a:solidFill>
                  <a:srgbClr val="1D2433"/>
                </a:solidFill>
                <a:latin typeface="Calibri"/>
              </a:rPr>
              <a:t>SQLite database  </a:t>
            </a:r>
            <a:r>
              <a:rPr sz="1100" b="0">
                <a:solidFill>
                  <a:srgbClr val="1D2433"/>
                </a:solidFill>
                <a:latin typeface="Calibri"/>
              </a:rPr>
              <a:t>· bills, users, decisions, settings</a:t>
            </a:r>
          </a:p>
        </p:txBody>
      </p:sp>
      <p:sp>
        <p:nvSpPr>
          <p:cNvPr id="50" name="Card: Waiting for review"/>
          <p:cNvSpPr/>
          <p:nvPr/>
        </p:nvSpPr>
        <p:spPr>
          <a:xfrm>
            <a:off x="8823960" y="1325880"/>
            <a:ext cx="2770632" cy="2286000"/>
          </a:xfrm>
          <a:prstGeom prst="roundRect">
            <a:avLst>
              <a:gd name="adj" fmla="val 4000"/>
            </a:avLst>
          </a:prstGeom>
          <a:solidFill>
            <a:srgbClr val="FFFFFF"/>
          </a:solidFill>
          <a:ln w="15875">
            <a:solidFill>
              <a:srgbClr val="5B3C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ep 7"/>
          <p:cNvSpPr/>
          <p:nvPr/>
        </p:nvSpPr>
        <p:spPr>
          <a:xfrm>
            <a:off x="8933688" y="1417320"/>
            <a:ext cx="274320" cy="274320"/>
          </a:xfrm>
          <a:prstGeom prst="ellipse">
            <a:avLst/>
          </a:prstGeom>
          <a:solidFill>
            <a:srgbClr val="5B3C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7</a:t>
            </a:r>
          </a:p>
        </p:txBody>
      </p:sp>
      <p:sp>
        <p:nvSpPr>
          <p:cNvPr id="52" name="Title: Waiting for review"/>
          <p:cNvSpPr txBox="1"/>
          <p:nvPr/>
        </p:nvSpPr>
        <p:spPr>
          <a:xfrm>
            <a:off x="9390888" y="1417320"/>
            <a:ext cx="2103120" cy="274320"/>
          </a:xfrm>
          <a:prstGeom prst="rect">
            <a:avLst/>
          </a:prstGeom>
          <a:noFill/>
        </p:spPr>
        <p:txBody>
          <a:bodyPr wrap="square" lIns="0" tIns="0" rIns="0" bIns="0" anchor="ctr">
            <a:noAutofit/>
          </a:bodyPr>
          <a:lstStyle/>
          <a:p>
            <a:pPr algn="l"/>
            <a:r>
              <a:rPr sz="1400" b="1">
                <a:solidFill>
                  <a:srgbClr val="1D2433"/>
                </a:solidFill>
                <a:latin typeface="Calibri"/>
              </a:rPr>
              <a:t>Waiting for review</a:t>
            </a:r>
          </a:p>
        </p:txBody>
      </p:sp>
      <p:sp>
        <p:nvSpPr>
          <p:cNvPr id="53" name="Text: Waiting for review"/>
          <p:cNvSpPr txBox="1"/>
          <p:nvPr/>
        </p:nvSpPr>
        <p:spPr>
          <a:xfrm>
            <a:off x="8961120" y="1737360"/>
            <a:ext cx="2496312" cy="566928"/>
          </a:xfrm>
          <a:prstGeom prst="rect">
            <a:avLst/>
          </a:prstGeom>
          <a:noFill/>
        </p:spPr>
        <p:txBody>
          <a:bodyPr wrap="square" lIns="0" tIns="0" rIns="0" bIns="0" anchor="t">
            <a:noAutofit/>
          </a:bodyPr>
          <a:lstStyle/>
          <a:p>
            <a:pPr algn="l"/>
            <a:r>
              <a:rPr sz="1200" b="0">
                <a:solidFill>
                  <a:srgbClr val="1D2433"/>
                </a:solidFill>
                <a:latin typeface="Calibri"/>
              </a:rPr>
              <a:t>Flagged bills show red with reasons. Rejecting needs a reason.</a:t>
            </a:r>
          </a:p>
        </p:txBody>
      </p:sp>
      <p:sp>
        <p:nvSpPr>
          <p:cNvPr id="54" name="Mock switch track"/>
          <p:cNvSpPr/>
          <p:nvPr/>
        </p:nvSpPr>
        <p:spPr>
          <a:xfrm>
            <a:off x="8961120" y="2377440"/>
            <a:ext cx="384048" cy="201168"/>
          </a:xfrm>
          <a:prstGeom prst="roundRect">
            <a:avLst>
              <a:gd name="adj" fmla="val 50000"/>
            </a:avLst>
          </a:prstGeom>
          <a:solidFill>
            <a:srgbClr val="12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Mock switch knob"/>
          <p:cNvSpPr/>
          <p:nvPr/>
        </p:nvSpPr>
        <p:spPr>
          <a:xfrm>
            <a:off x="9162288" y="2395728"/>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Mock switch label"/>
          <p:cNvSpPr txBox="1"/>
          <p:nvPr/>
        </p:nvSpPr>
        <p:spPr>
          <a:xfrm>
            <a:off x="9418320" y="2359152"/>
            <a:ext cx="2011680" cy="237744"/>
          </a:xfrm>
          <a:prstGeom prst="rect">
            <a:avLst/>
          </a:prstGeom>
          <a:noFill/>
        </p:spPr>
        <p:txBody>
          <a:bodyPr wrap="square" lIns="0" tIns="0" rIns="0" bIns="0" anchor="ctr">
            <a:noAutofit/>
          </a:bodyPr>
          <a:lstStyle/>
          <a:p>
            <a:pPr algn="l"/>
            <a:r>
              <a:rPr sz="1000" b="0">
                <a:solidFill>
                  <a:srgbClr val="1D2433"/>
                </a:solidFill>
                <a:latin typeface="Calibri"/>
              </a:rPr>
              <a:t>Auto-approve switch: ON</a:t>
            </a:r>
          </a:p>
        </p:txBody>
      </p:sp>
      <p:sp>
        <p:nvSpPr>
          <p:cNvPr id="57" name="Mock anomaly row"/>
          <p:cNvSpPr/>
          <p:nvPr/>
        </p:nvSpPr>
        <p:spPr>
          <a:xfrm>
            <a:off x="8961120" y="2697480"/>
            <a:ext cx="2496312" cy="457200"/>
          </a:xfrm>
          <a:prstGeom prst="roundRect">
            <a:avLst>
              <a:gd name="adj" fmla="val 12000"/>
            </a:avLst>
          </a:prstGeom>
          <a:solidFill>
            <a:srgbClr val="FDECEA"/>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Mock anomaly text"/>
          <p:cNvSpPr txBox="1"/>
          <p:nvPr/>
        </p:nvSpPr>
        <p:spPr>
          <a:xfrm>
            <a:off x="9034272" y="2715768"/>
            <a:ext cx="1417320" cy="420624"/>
          </a:xfrm>
          <a:prstGeom prst="rect">
            <a:avLst/>
          </a:prstGeom>
          <a:noFill/>
        </p:spPr>
        <p:txBody>
          <a:bodyPr wrap="square" lIns="0" tIns="0" rIns="0" bIns="0" anchor="ctr">
            <a:noAutofit/>
          </a:bodyPr>
          <a:lstStyle/>
          <a:p>
            <a:pPr algn="l"/>
            <a:r>
              <a:rPr sz="1100" b="1">
                <a:solidFill>
                  <a:srgbClr val="B42318"/>
                </a:solidFill>
                <a:latin typeface="Calibri"/>
              </a:rPr>
              <a:t>Amit · ₹9,450</a:t>
            </a:r>
          </a:p>
          <a:p>
            <a:pPr algn="l"/>
            <a:r>
              <a:rPr sz="1000" b="0">
                <a:solidFill>
                  <a:srgbClr val="B42318"/>
                </a:solidFill>
                <a:latin typeface="Calibri"/>
              </a:rPr>
              <a:t>2.8× usual Fuel bill</a:t>
            </a:r>
          </a:p>
        </p:txBody>
      </p:sp>
      <p:sp>
        <p:nvSpPr>
          <p:cNvPr id="59" name="Mock anomaly tag"/>
          <p:cNvSpPr/>
          <p:nvPr/>
        </p:nvSpPr>
        <p:spPr>
          <a:xfrm>
            <a:off x="10515600" y="2816352"/>
            <a:ext cx="868680" cy="219456"/>
          </a:xfrm>
          <a:prstGeom prst="roundRect">
            <a:avLst>
              <a:gd name="adj" fmla="val 25000"/>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FFFFFF"/>
                </a:solidFill>
                <a:latin typeface="Calibri"/>
              </a:rPr>
              <a:t>⚠ Anomaly</a:t>
            </a:r>
          </a:p>
        </p:txBody>
      </p:sp>
      <p:sp>
        <p:nvSpPr>
          <p:cNvPr id="60" name="Mock Approve button"/>
          <p:cNvSpPr/>
          <p:nvPr/>
        </p:nvSpPr>
        <p:spPr>
          <a:xfrm>
            <a:off x="8961120" y="3227832"/>
            <a:ext cx="777240" cy="237744"/>
          </a:xfrm>
          <a:prstGeom prst="roundRect">
            <a:avLst>
              <a:gd name="adj" fmla="val 23076"/>
            </a:avLst>
          </a:prstGeom>
          <a:solidFill>
            <a:srgbClr val="12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FFFFFF"/>
                </a:solidFill>
                <a:latin typeface="Calibri"/>
              </a:rPr>
              <a:t>Approve</a:t>
            </a:r>
          </a:p>
        </p:txBody>
      </p:sp>
      <p:sp>
        <p:nvSpPr>
          <p:cNvPr id="61" name="Mock Reject button"/>
          <p:cNvSpPr/>
          <p:nvPr/>
        </p:nvSpPr>
        <p:spPr>
          <a:xfrm>
            <a:off x="9811512" y="3227832"/>
            <a:ext cx="685800" cy="237744"/>
          </a:xfrm>
          <a:prstGeom prst="roundRect">
            <a:avLst>
              <a:gd name="adj" fmla="val 23076"/>
            </a:avLst>
          </a:prstGeom>
          <a:solidFill>
            <a:srgbClr val="FFFFFF"/>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B42318"/>
                </a:solidFill>
                <a:latin typeface="Calibri"/>
              </a:rPr>
              <a:t>Reject</a:t>
            </a:r>
          </a:p>
        </p:txBody>
      </p:sp>
      <p:sp>
        <p:nvSpPr>
          <p:cNvPr id="62" name="Card: Decision history"/>
          <p:cNvSpPr/>
          <p:nvPr/>
        </p:nvSpPr>
        <p:spPr>
          <a:xfrm>
            <a:off x="8823960" y="4023360"/>
            <a:ext cx="2770632" cy="2240280"/>
          </a:xfrm>
          <a:prstGeom prst="roundRect">
            <a:avLst>
              <a:gd name="adj" fmla="val 4081"/>
            </a:avLst>
          </a:prstGeom>
          <a:solidFill>
            <a:srgbClr val="FFFFFF"/>
          </a:solidFill>
          <a:ln w="15875">
            <a:solidFill>
              <a:srgbClr val="5B3C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ep 8"/>
          <p:cNvSpPr/>
          <p:nvPr/>
        </p:nvSpPr>
        <p:spPr>
          <a:xfrm>
            <a:off x="8933688" y="4114800"/>
            <a:ext cx="274320" cy="274320"/>
          </a:xfrm>
          <a:prstGeom prst="ellipse">
            <a:avLst/>
          </a:prstGeom>
          <a:solidFill>
            <a:srgbClr val="5B3C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a:solidFill>
                  <a:srgbClr val="FFFFFF"/>
                </a:solidFill>
                <a:latin typeface="Calibri"/>
              </a:rPr>
              <a:t>8</a:t>
            </a:r>
          </a:p>
        </p:txBody>
      </p:sp>
      <p:sp>
        <p:nvSpPr>
          <p:cNvPr id="64" name="Title: Decision history"/>
          <p:cNvSpPr txBox="1"/>
          <p:nvPr/>
        </p:nvSpPr>
        <p:spPr>
          <a:xfrm>
            <a:off x="9390888" y="4114800"/>
            <a:ext cx="2103120" cy="274320"/>
          </a:xfrm>
          <a:prstGeom prst="rect">
            <a:avLst/>
          </a:prstGeom>
          <a:noFill/>
        </p:spPr>
        <p:txBody>
          <a:bodyPr wrap="square" lIns="0" tIns="0" rIns="0" bIns="0" anchor="ctr">
            <a:noAutofit/>
          </a:bodyPr>
          <a:lstStyle/>
          <a:p>
            <a:pPr algn="l"/>
            <a:r>
              <a:rPr sz="1400" b="1">
                <a:solidFill>
                  <a:srgbClr val="1D2433"/>
                </a:solidFill>
                <a:latin typeface="Calibri"/>
              </a:rPr>
              <a:t>Decision history</a:t>
            </a:r>
          </a:p>
        </p:txBody>
      </p:sp>
      <p:sp>
        <p:nvSpPr>
          <p:cNvPr id="65" name="Text: Decision history"/>
          <p:cNvSpPr txBox="1"/>
          <p:nvPr/>
        </p:nvSpPr>
        <p:spPr>
          <a:xfrm>
            <a:off x="8961120" y="4434840"/>
            <a:ext cx="2496312" cy="566928"/>
          </a:xfrm>
          <a:prstGeom prst="rect">
            <a:avLst/>
          </a:prstGeom>
          <a:noFill/>
        </p:spPr>
        <p:txBody>
          <a:bodyPr wrap="square" lIns="0" tIns="0" rIns="0" bIns="0" anchor="t">
            <a:noAutofit/>
          </a:bodyPr>
          <a:lstStyle/>
          <a:p>
            <a:pPr algn="l"/>
            <a:r>
              <a:rPr sz="1200" b="0">
                <a:solidFill>
                  <a:srgbClr val="1D2433"/>
                </a:solidFill>
                <a:latin typeface="Calibri"/>
              </a:rPr>
              <a:t>Every approved and rejected bill stays listed, with who decided and when.</a:t>
            </a:r>
          </a:p>
        </p:txBody>
      </p:sp>
      <p:sp>
        <p:nvSpPr>
          <p:cNvPr id="66" name="History row 1"/>
          <p:cNvSpPr/>
          <p:nvPr/>
        </p:nvSpPr>
        <p:spPr>
          <a:xfrm>
            <a:off x="8961120" y="5120640"/>
            <a:ext cx="2496312" cy="237744"/>
          </a:xfrm>
          <a:prstGeom prst="roundRect">
            <a:avLst>
              <a:gd name="adj" fmla="val 1923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0" rIns="73152" bIns="0">
            <a:noAutofit/>
          </a:bodyPr>
          <a:lstStyle/>
          <a:p>
            <a:pPr algn="l"/>
            <a:r>
              <a:rPr sz="1000" b="0">
                <a:solidFill>
                  <a:srgbClr val="1D2433"/>
                </a:solidFill>
                <a:latin typeface="Calibri"/>
              </a:rPr>
              <a:t>₹2,100 · Approved</a:t>
            </a:r>
          </a:p>
        </p:txBody>
      </p:sp>
      <p:sp>
        <p:nvSpPr>
          <p:cNvPr id="67" name="History tag 1"/>
          <p:cNvSpPr/>
          <p:nvPr/>
        </p:nvSpPr>
        <p:spPr>
          <a:xfrm>
            <a:off x="10488168" y="5148072"/>
            <a:ext cx="896112" cy="182880"/>
          </a:xfrm>
          <a:prstGeom prst="roundRect">
            <a:avLst>
              <a:gd name="adj" fmla="val 30000"/>
            </a:avLst>
          </a:prstGeom>
          <a:solidFill>
            <a:srgbClr val="E9F1FA"/>
          </a:solidFill>
          <a:ln w="12700">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0B5CAD"/>
                </a:solidFill>
                <a:latin typeface="Calibri"/>
              </a:rPr>
              <a:t>Auto-approved</a:t>
            </a:r>
          </a:p>
        </p:txBody>
      </p:sp>
      <p:sp>
        <p:nvSpPr>
          <p:cNvPr id="68" name="History row 2"/>
          <p:cNvSpPr/>
          <p:nvPr/>
        </p:nvSpPr>
        <p:spPr>
          <a:xfrm>
            <a:off x="8961120" y="5394959"/>
            <a:ext cx="2496312" cy="237744"/>
          </a:xfrm>
          <a:prstGeom prst="roundRect">
            <a:avLst>
              <a:gd name="adj" fmla="val 1923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0" rIns="73152" bIns="0">
            <a:noAutofit/>
          </a:bodyPr>
          <a:lstStyle/>
          <a:p>
            <a:pPr algn="l"/>
            <a:r>
              <a:rPr sz="1000" b="0">
                <a:solidFill>
                  <a:srgbClr val="1D2433"/>
                </a:solidFill>
                <a:latin typeface="Calibri"/>
              </a:rPr>
              <a:t>₹9,450 · Rejected</a:t>
            </a:r>
          </a:p>
        </p:txBody>
      </p:sp>
      <p:sp>
        <p:nvSpPr>
          <p:cNvPr id="69" name="History tag 2"/>
          <p:cNvSpPr/>
          <p:nvPr/>
        </p:nvSpPr>
        <p:spPr>
          <a:xfrm>
            <a:off x="10817352" y="5422392"/>
            <a:ext cx="566928" cy="182880"/>
          </a:xfrm>
          <a:prstGeom prst="roundRect">
            <a:avLst>
              <a:gd name="adj" fmla="val 30000"/>
            </a:avLst>
          </a:prstGeom>
          <a:solidFill>
            <a:srgbClr val="FFFFFF"/>
          </a:solidFill>
          <a:ln w="12700">
            <a:solidFill>
              <a:srgbClr val="6B74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5A6578"/>
                </a:solidFill>
                <a:latin typeface="Calibri"/>
              </a:rPr>
              <a:t>Manual</a:t>
            </a:r>
          </a:p>
        </p:txBody>
      </p:sp>
      <p:sp>
        <p:nvSpPr>
          <p:cNvPr id="70" name="History row 3"/>
          <p:cNvSpPr/>
          <p:nvPr/>
        </p:nvSpPr>
        <p:spPr>
          <a:xfrm>
            <a:off x="8961120" y="5669279"/>
            <a:ext cx="2496312" cy="237744"/>
          </a:xfrm>
          <a:prstGeom prst="roundRect">
            <a:avLst>
              <a:gd name="adj" fmla="val 1923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0" rIns="73152" bIns="0">
            <a:noAutofit/>
          </a:bodyPr>
          <a:lstStyle/>
          <a:p>
            <a:pPr algn="l"/>
            <a:r>
              <a:rPr sz="1000" b="0">
                <a:solidFill>
                  <a:srgbClr val="1D2433"/>
                </a:solidFill>
                <a:latin typeface="Calibri"/>
              </a:rPr>
              <a:t>₹1,860 · Approved</a:t>
            </a:r>
          </a:p>
        </p:txBody>
      </p:sp>
      <p:sp>
        <p:nvSpPr>
          <p:cNvPr id="71" name="History tag 3"/>
          <p:cNvSpPr/>
          <p:nvPr/>
        </p:nvSpPr>
        <p:spPr>
          <a:xfrm>
            <a:off x="10817352" y="5696712"/>
            <a:ext cx="566928" cy="182880"/>
          </a:xfrm>
          <a:prstGeom prst="roundRect">
            <a:avLst>
              <a:gd name="adj" fmla="val 30000"/>
            </a:avLst>
          </a:prstGeom>
          <a:solidFill>
            <a:srgbClr val="FFFFFF"/>
          </a:solidFill>
          <a:ln w="12700">
            <a:solidFill>
              <a:srgbClr val="6B74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a:solidFill>
                  <a:srgbClr val="5A6578"/>
                </a:solidFill>
                <a:latin typeface="Calibri"/>
              </a:rPr>
              <a:t>Manual</a:t>
            </a:r>
          </a:p>
        </p:txBody>
      </p:sp>
      <p:cxnSp>
        <p:nvCxnSpPr>
          <p:cNvPr id="72" name="Arrow: upload"/>
          <p:cNvCxnSpPr/>
          <p:nvPr/>
        </p:nvCxnSpPr>
        <p:spPr>
          <a:xfrm>
            <a:off x="3246120" y="1737360"/>
            <a:ext cx="777240" cy="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Label: upload"/>
          <p:cNvSpPr txBox="1"/>
          <p:nvPr/>
        </p:nvSpPr>
        <p:spPr>
          <a:xfrm>
            <a:off x="3246120" y="1499616"/>
            <a:ext cx="777240" cy="201168"/>
          </a:xfrm>
          <a:prstGeom prst="rect">
            <a:avLst/>
          </a:prstGeom>
          <a:noFill/>
        </p:spPr>
        <p:txBody>
          <a:bodyPr wrap="square" lIns="0" tIns="0" rIns="0" bIns="0" anchor="ctr">
            <a:noAutofit/>
          </a:bodyPr>
          <a:lstStyle/>
          <a:p>
            <a:pPr algn="ctr"/>
            <a:r>
              <a:rPr sz="1000" b="0">
                <a:solidFill>
                  <a:srgbClr val="5A6578"/>
                </a:solidFill>
                <a:latin typeface="Calibri"/>
              </a:rPr>
              <a:t>Upload</a:t>
            </a:r>
          </a:p>
        </p:txBody>
      </p:sp>
      <p:cxnSp>
        <p:nvCxnSpPr>
          <p:cNvPr id="74" name="Arrow: parsed bill"/>
          <p:cNvCxnSpPr/>
          <p:nvPr/>
        </p:nvCxnSpPr>
        <p:spPr>
          <a:xfrm flipH="1">
            <a:off x="3246120" y="2468880"/>
            <a:ext cx="777240" cy="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Label: parsed bill"/>
          <p:cNvSpPr txBox="1"/>
          <p:nvPr/>
        </p:nvSpPr>
        <p:spPr>
          <a:xfrm>
            <a:off x="3246120" y="2231136"/>
            <a:ext cx="777240" cy="201168"/>
          </a:xfrm>
          <a:prstGeom prst="rect">
            <a:avLst/>
          </a:prstGeom>
          <a:noFill/>
        </p:spPr>
        <p:txBody>
          <a:bodyPr wrap="square" lIns="0" tIns="0" rIns="0" bIns="0" anchor="ctr">
            <a:noAutofit/>
          </a:bodyPr>
          <a:lstStyle/>
          <a:p>
            <a:pPr algn="ctr"/>
            <a:r>
              <a:rPr sz="1000" b="0">
                <a:solidFill>
                  <a:srgbClr val="5A6578"/>
                </a:solidFill>
                <a:latin typeface="Calibri"/>
              </a:rPr>
              <a:t>Parsed bill</a:t>
            </a:r>
          </a:p>
        </p:txBody>
      </p:sp>
      <p:cxnSp>
        <p:nvCxnSpPr>
          <p:cNvPr id="76" name="Arrow: send to HR"/>
          <p:cNvCxnSpPr/>
          <p:nvPr/>
        </p:nvCxnSpPr>
        <p:spPr>
          <a:xfrm>
            <a:off x="3246120" y="2971800"/>
            <a:ext cx="777240" cy="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Label: send to HR"/>
          <p:cNvSpPr txBox="1"/>
          <p:nvPr/>
        </p:nvSpPr>
        <p:spPr>
          <a:xfrm>
            <a:off x="3246120" y="2734056"/>
            <a:ext cx="777240" cy="201168"/>
          </a:xfrm>
          <a:prstGeom prst="rect">
            <a:avLst/>
          </a:prstGeom>
          <a:noFill/>
        </p:spPr>
        <p:txBody>
          <a:bodyPr wrap="square" lIns="0" tIns="0" rIns="0" bIns="0" anchor="ctr">
            <a:noAutofit/>
          </a:bodyPr>
          <a:lstStyle/>
          <a:p>
            <a:pPr algn="ctr"/>
            <a:r>
              <a:rPr sz="1000" b="0">
                <a:solidFill>
                  <a:srgbClr val="5A6578"/>
                </a:solidFill>
                <a:latin typeface="Calibri"/>
              </a:rPr>
              <a:t>Send to HR</a:t>
            </a:r>
          </a:p>
        </p:txBody>
      </p:sp>
      <p:cxnSp>
        <p:nvCxnSpPr>
          <p:cNvPr id="78" name="Arrow: checks to anomaly"/>
          <p:cNvCxnSpPr/>
          <p:nvPr/>
        </p:nvCxnSpPr>
        <p:spPr>
          <a:xfrm>
            <a:off x="6035040" y="3154680"/>
            <a:ext cx="0" cy="22860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anomaly to decision"/>
          <p:cNvCxnSpPr/>
          <p:nvPr/>
        </p:nvCxnSpPr>
        <p:spPr>
          <a:xfrm>
            <a:off x="6035040" y="4526280"/>
            <a:ext cx="0" cy="22860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Line: decision out"/>
          <p:cNvCxnSpPr/>
          <p:nvPr/>
        </p:nvCxnSpPr>
        <p:spPr>
          <a:xfrm>
            <a:off x="7589520" y="5166360"/>
            <a:ext cx="845820" cy="0"/>
          </a:xfrm>
          <a:prstGeom prst="line">
            <a:avLst/>
          </a:prstGeom>
          <a:ln w="22225">
            <a:solidFill>
              <a:srgbClr val="4A5568"/>
            </a:solidFill>
          </a:ln>
        </p:spPr>
        <p:style>
          <a:lnRef idx="2">
            <a:schemeClr val="accent1"/>
          </a:lnRef>
          <a:fillRef idx="0">
            <a:schemeClr val="accent1"/>
          </a:fillRef>
          <a:effectRef idx="1">
            <a:schemeClr val="accent1"/>
          </a:effectRef>
          <a:fontRef idx="minor">
            <a:schemeClr val="tx1"/>
          </a:fontRef>
        </p:style>
      </p:cxnSp>
      <p:cxnSp>
        <p:nvCxnSpPr>
          <p:cNvPr id="81" name="Line: decision split"/>
          <p:cNvCxnSpPr/>
          <p:nvPr/>
        </p:nvCxnSpPr>
        <p:spPr>
          <a:xfrm>
            <a:off x="8435340" y="3108960"/>
            <a:ext cx="0" cy="2468880"/>
          </a:xfrm>
          <a:prstGeom prst="line">
            <a:avLst/>
          </a:prstGeom>
          <a:ln w="22225">
            <a:solidFill>
              <a:srgbClr val="4A5568"/>
            </a:solidFill>
          </a:ln>
        </p:spPr>
        <p:style>
          <a:lnRef idx="2">
            <a:schemeClr val="accent1"/>
          </a:lnRef>
          <a:fillRef idx="0">
            <a:schemeClr val="accent1"/>
          </a:fillRef>
          <a:effectRef idx="1">
            <a:schemeClr val="accent1"/>
          </a:effectRef>
          <a:fontRef idx="minor">
            <a:schemeClr val="tx1"/>
          </a:fontRef>
        </p:style>
      </p:cxnSp>
      <p:cxnSp>
        <p:nvCxnSpPr>
          <p:cNvPr id="82" name="Arrow: to HR review"/>
          <p:cNvCxnSpPr/>
          <p:nvPr/>
        </p:nvCxnSpPr>
        <p:spPr>
          <a:xfrm>
            <a:off x="8435340" y="3108960"/>
            <a:ext cx="388620" cy="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Label: no"/>
          <p:cNvSpPr txBox="1"/>
          <p:nvPr/>
        </p:nvSpPr>
        <p:spPr>
          <a:xfrm>
            <a:off x="8476488" y="2871216"/>
            <a:ext cx="320040" cy="201168"/>
          </a:xfrm>
          <a:prstGeom prst="rect">
            <a:avLst/>
          </a:prstGeom>
          <a:noFill/>
        </p:spPr>
        <p:txBody>
          <a:bodyPr wrap="square" lIns="0" tIns="0" rIns="0" bIns="0" anchor="ctr">
            <a:noAutofit/>
          </a:bodyPr>
          <a:lstStyle/>
          <a:p>
            <a:pPr algn="ctr"/>
            <a:r>
              <a:rPr sz="1000" b="1">
                <a:solidFill>
                  <a:srgbClr val="5A6578"/>
                </a:solidFill>
                <a:latin typeface="Calibri"/>
              </a:rPr>
              <a:t>No</a:t>
            </a:r>
          </a:p>
        </p:txBody>
      </p:sp>
      <p:cxnSp>
        <p:nvCxnSpPr>
          <p:cNvPr id="84" name="Arrow: auto-approved to history"/>
          <p:cNvCxnSpPr/>
          <p:nvPr/>
        </p:nvCxnSpPr>
        <p:spPr>
          <a:xfrm>
            <a:off x="8435340" y="5577840"/>
            <a:ext cx="388620" cy="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Label: yes"/>
          <p:cNvSpPr txBox="1"/>
          <p:nvPr/>
        </p:nvSpPr>
        <p:spPr>
          <a:xfrm>
            <a:off x="8476488" y="5340096"/>
            <a:ext cx="320040" cy="201168"/>
          </a:xfrm>
          <a:prstGeom prst="rect">
            <a:avLst/>
          </a:prstGeom>
          <a:noFill/>
        </p:spPr>
        <p:txBody>
          <a:bodyPr wrap="square" lIns="0" tIns="0" rIns="0" bIns="0" anchor="ctr">
            <a:noAutofit/>
          </a:bodyPr>
          <a:lstStyle/>
          <a:p>
            <a:pPr algn="ctr"/>
            <a:r>
              <a:rPr sz="1000" b="1">
                <a:solidFill>
                  <a:srgbClr val="127A46"/>
                </a:solidFill>
                <a:latin typeface="Calibri"/>
              </a:rPr>
              <a:t>Yes</a:t>
            </a:r>
          </a:p>
        </p:txBody>
      </p:sp>
      <p:cxnSp>
        <p:nvCxnSpPr>
          <p:cNvPr id="86" name="Arrow: review to history"/>
          <p:cNvCxnSpPr/>
          <p:nvPr/>
        </p:nvCxnSpPr>
        <p:spPr>
          <a:xfrm>
            <a:off x="10209276" y="3611880"/>
            <a:ext cx="0" cy="41148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Arrow: decision to database"/>
          <p:cNvCxnSpPr/>
          <p:nvPr/>
        </p:nvCxnSpPr>
        <p:spPr>
          <a:xfrm>
            <a:off x="6035040" y="5577840"/>
            <a:ext cx="0" cy="27432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8" name="Arrow: decisions to database"/>
          <p:cNvCxnSpPr/>
          <p:nvPr/>
        </p:nvCxnSpPr>
        <p:spPr>
          <a:xfrm flipH="1">
            <a:off x="8046720" y="6080760"/>
            <a:ext cx="777240" cy="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Label: decision"/>
          <p:cNvSpPr txBox="1"/>
          <p:nvPr/>
        </p:nvSpPr>
        <p:spPr>
          <a:xfrm>
            <a:off x="8046720" y="5852160"/>
            <a:ext cx="777240" cy="201168"/>
          </a:xfrm>
          <a:prstGeom prst="rect">
            <a:avLst/>
          </a:prstGeom>
          <a:noFill/>
        </p:spPr>
        <p:txBody>
          <a:bodyPr wrap="square" lIns="0" tIns="0" rIns="0" bIns="0" anchor="ctr">
            <a:noAutofit/>
          </a:bodyPr>
          <a:lstStyle/>
          <a:p>
            <a:pPr algn="ctr"/>
            <a:r>
              <a:rPr sz="1000" b="0">
                <a:solidFill>
                  <a:srgbClr val="5A6578"/>
                </a:solidFill>
                <a:latin typeface="Calibri"/>
              </a:rPr>
              <a:t>Decision</a:t>
            </a:r>
          </a:p>
        </p:txBody>
      </p:sp>
      <p:cxnSp>
        <p:nvCxnSpPr>
          <p:cNvPr id="90" name="Arrow: status to employee"/>
          <p:cNvCxnSpPr/>
          <p:nvPr/>
        </p:nvCxnSpPr>
        <p:spPr>
          <a:xfrm flipH="1">
            <a:off x="3246120" y="6080760"/>
            <a:ext cx="777240" cy="0"/>
          </a:xfrm>
          <a:prstGeom prst="line">
            <a:avLst/>
          </a:prstGeom>
          <a:ln w="22225">
            <a:solidFill>
              <a:srgbClr val="4A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 name="Label: status"/>
          <p:cNvSpPr txBox="1"/>
          <p:nvPr/>
        </p:nvSpPr>
        <p:spPr>
          <a:xfrm>
            <a:off x="3246120" y="5852160"/>
            <a:ext cx="777240" cy="201168"/>
          </a:xfrm>
          <a:prstGeom prst="rect">
            <a:avLst/>
          </a:prstGeom>
          <a:noFill/>
        </p:spPr>
        <p:txBody>
          <a:bodyPr wrap="square" lIns="0" tIns="0" rIns="0" bIns="0" anchor="ctr">
            <a:noAutofit/>
          </a:bodyPr>
          <a:lstStyle/>
          <a:p>
            <a:pPr algn="ctr"/>
            <a:r>
              <a:rPr sz="1000" b="0">
                <a:solidFill>
                  <a:srgbClr val="5A6578"/>
                </a:solidFill>
                <a:latin typeface="Calibri"/>
              </a:rPr>
              <a:t>Status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Reimbursement System: Block Diagram</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